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embeddedFontLst>
    <p:embeddedFont>
      <p:font typeface="Montserrat" pitchFamily="2" charset="77"/>
      <p:regular r:id="rId17"/>
      <p:bold r:id="rId18"/>
      <p:italic r:id="rId19"/>
      <p:boldItalic r:id="rId20"/>
    </p:embeddedFont>
    <p:embeddedFont>
      <p:font typeface="Montserrat ExtraLight" pitchFamily="2" charset="77"/>
      <p:regular r:id="rId21"/>
      <p:bold r:id="rId22"/>
      <p:italic r:id="rId23"/>
      <p:boldItalic r:id="rId24"/>
    </p:embeddedFont>
    <p:embeddedFont>
      <p:font typeface="Montserrat Light" pitchFamily="2" charset="77"/>
      <p:regular r:id="rId25"/>
      <p:bold r:id="rId26"/>
      <p:italic r:id="rId27"/>
      <p:boldItalic r:id="rId28"/>
    </p:embeddedFont>
    <p:embeddedFont>
      <p:font typeface="Syncoria Font Family" panose="02000503000000000000" pitchFamily="2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47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987008"/>
            <a:ext cx="22860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76042" y="1209675"/>
            <a:ext cx="11239500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5393858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600200" y="4433900"/>
            <a:ext cx="12672600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Montserrat"/>
              <a:buNone/>
            </a:pPr>
            <a:r>
              <a:rPr lang="en-US" sz="84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Presentation Title </a:t>
            </a:r>
            <a:endParaRPr sz="8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600200" y="5707596"/>
            <a:ext cx="94080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Subtitle / Client Name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600200" y="8820150"/>
            <a:ext cx="24098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MAY 2026 - CONFIDENTIAL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027" y="4791075"/>
            <a:ext cx="958215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027" y="5857875"/>
            <a:ext cx="958215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027" y="6924675"/>
            <a:ext cx="958215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027" y="7991475"/>
            <a:ext cx="958215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027" y="9058275"/>
            <a:ext cx="958215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9088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552628" y="2569125"/>
            <a:ext cx="10158000" cy="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What we will cover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552617" y="2026209"/>
            <a:ext cx="13906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AGENDA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78027" y="4000500"/>
            <a:ext cx="43053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01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896100" y="4129088"/>
            <a:ext cx="430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Introduction &amp; Context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78027" y="5067300"/>
            <a:ext cx="43053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02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96100" y="5195888"/>
            <a:ext cx="430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The Challenge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578027" y="6134100"/>
            <a:ext cx="43053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03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896100" y="6262688"/>
            <a:ext cx="430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Our Approach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578027" y="7200900"/>
            <a:ext cx="43053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04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96100" y="7329488"/>
            <a:ext cx="430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Solution &amp; Deliverables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578027" y="8267700"/>
            <a:ext cx="43053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05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96100" y="8396288"/>
            <a:ext cx="430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Timeline &amp; Investment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158" y="987008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9091" y="1209675"/>
            <a:ext cx="13087350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15393860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600200" y="3343275"/>
            <a:ext cx="2447925" cy="218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2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5600"/>
              <a:buFont typeface="Montserrat ExtraLight"/>
              <a:buNone/>
            </a:pPr>
            <a:r>
              <a:rPr lang="en-US" sz="15600" b="0" i="0" u="none" strike="noStrike" cap="none">
                <a:solidFill>
                  <a:srgbClr val="F9FAFB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01 </a:t>
            </a:r>
            <a:endParaRPr sz="1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600200" y="5524500"/>
            <a:ext cx="93702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Section Title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600200" y="7886700"/>
            <a:ext cx="1009449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4200"/>
              <a:buFont typeface="Montserrat Light"/>
              <a:buNone/>
            </a:pPr>
            <a:r>
              <a:rPr lang="en-US" sz="42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Brief description of this section's focus and what the audience will learn. 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125" y="4143315"/>
            <a:ext cx="9525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1552575" y="2329400"/>
            <a:ext cx="120747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Slide Title Goes Here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552575" y="2026209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552575" y="4143315"/>
            <a:ext cx="59531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Left Column Heading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2191499" y="5285236"/>
            <a:ext cx="6137216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one with enough detail to be useful.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two that builds on the first with context.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three that rounds out this section.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four — keep to one or two lines max.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0553700" y="5342386"/>
            <a:ext cx="6137216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one with enough detail to be useful.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two that builds on the first with context.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three that rounds out this section.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point four — keep to one or two lines max.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286875" y="4143325"/>
            <a:ext cx="8383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9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4200"/>
              <a:buFont typeface="Montserrat"/>
              <a:buNone/>
            </a:pPr>
            <a:r>
              <a:rPr lang="en-US" sz="4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Right Column Heading 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82500" y="2652912"/>
            <a:ext cx="4362450" cy="549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1552575" y="2329400"/>
            <a:ext cx="10309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Slide Title Goes Here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552575" y="2026209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603484" y="3558846"/>
            <a:ext cx="899784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Your primary content goes here. Keep it focused — one clear idea per slide. This paragraph should be no more than 3-4 lines.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552575" y="5573925"/>
            <a:ext cx="7445266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Supporting point with specific outcome or data.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Second point — avoid starting with the same word twice.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04800" algn="l" rtl="0">
              <a:lnSpc>
                <a:spcPct val="98750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Char char="•"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Third point — keep bullets parallel in structure.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2786959" y="3205702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KEY INSIGHT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2786959" y="7469400"/>
            <a:ext cx="18002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Source or attribution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2786959" y="5383425"/>
            <a:ext cx="3092760" cy="200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A concise, impactful statement that captures the most important takeaway from this slide.</a:t>
            </a:r>
            <a:b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9091" y="1209675"/>
            <a:ext cx="13087350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1557338" y="4148077"/>
            <a:ext cx="4343400" cy="4695825"/>
          </a:xfrm>
          <a:prstGeom prst="roundRect">
            <a:avLst>
              <a:gd name="adj" fmla="val 4276"/>
            </a:avLst>
          </a:prstGeom>
          <a:noFill/>
          <a:ln w="9525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6196013" y="4148077"/>
            <a:ext cx="4343400" cy="4695825"/>
          </a:xfrm>
          <a:prstGeom prst="roundRect">
            <a:avLst>
              <a:gd name="adj" fmla="val 4276"/>
            </a:avLst>
          </a:prstGeom>
          <a:noFill/>
          <a:ln w="9525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10844213" y="4148077"/>
            <a:ext cx="4343400" cy="4695825"/>
          </a:xfrm>
          <a:prstGeom prst="roundRect">
            <a:avLst>
              <a:gd name="adj" fmla="val 4276"/>
            </a:avLst>
          </a:prstGeom>
          <a:noFill/>
          <a:ln w="9525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154781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552575" y="2329400"/>
            <a:ext cx="114486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Slide Title Goes Here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249091" y="7202974"/>
            <a:ext cx="2314575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47%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887766" y="7202974"/>
            <a:ext cx="1381125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3X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11535966" y="7202974"/>
            <a:ext cx="3095625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$1.2M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2249091" y="4870963"/>
            <a:ext cx="3219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Reduction in</a:t>
            </a:r>
            <a:b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Implementation Time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887766" y="4870963"/>
            <a:ext cx="28194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Faster Onboarding</a:t>
            </a:r>
            <a:b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for End Users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11535966" y="4870963"/>
            <a:ext cx="273367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Estimated Annual</a:t>
            </a:r>
            <a:b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Cost Savings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552575" y="2026209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/>
          <p:nvPr/>
        </p:nvSpPr>
        <p:spPr>
          <a:xfrm>
            <a:off x="1552575" y="3543300"/>
            <a:ext cx="13802209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“This is where the client quote goes. Keep it to two or three sentences maximum — let it breathe on the slide.”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552575" y="8678556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FIRST LAST  ·  TITLE, COMPANY NAME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552575" y="8926206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INDUSTRY  ·  CITY, CANADA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5637647" y="4315906"/>
            <a:ext cx="2876550" cy="3838575"/>
          </a:xfrm>
          <a:prstGeom prst="roundRect">
            <a:avLst>
              <a:gd name="adj" fmla="val 6623"/>
            </a:avLst>
          </a:prstGeom>
          <a:solidFill>
            <a:srgbClr val="C97B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7535" y="6044317"/>
            <a:ext cx="15227303" cy="5499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/>
          <p:nvPr/>
        </p:nvSpPr>
        <p:spPr>
          <a:xfrm>
            <a:off x="2805624" y="5965931"/>
            <a:ext cx="209550" cy="209550"/>
          </a:xfrm>
          <a:prstGeom prst="ellipse">
            <a:avLst/>
          </a:prstGeom>
          <a:solidFill>
            <a:srgbClr val="003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6972840" y="5965931"/>
            <a:ext cx="209550" cy="209550"/>
          </a:xfrm>
          <a:prstGeom prst="ellipse">
            <a:avLst/>
          </a:prstGeom>
          <a:solidFill>
            <a:srgbClr val="003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11163840" y="5965931"/>
            <a:ext cx="209550" cy="209550"/>
          </a:xfrm>
          <a:prstGeom prst="ellipse">
            <a:avLst/>
          </a:prstGeom>
          <a:solidFill>
            <a:srgbClr val="003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15272928" y="5965931"/>
            <a:ext cx="209550" cy="209550"/>
          </a:xfrm>
          <a:prstGeom prst="ellipse">
            <a:avLst/>
          </a:prstGeom>
          <a:solidFill>
            <a:srgbClr val="003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1552575" y="2329400"/>
            <a:ext cx="93039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Project Timeline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1552575" y="2026209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1581150" y="4801339"/>
            <a:ext cx="280659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DISCOVERY</a:t>
            </a:r>
            <a:b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WKS 1-2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581150" y="6449051"/>
            <a:ext cx="2806591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Requirements,</a:t>
            </a:r>
            <a:b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stakeholder alignment,</a:t>
            </a:r>
            <a:b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system audit 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5676900" y="6449051"/>
            <a:ext cx="2806591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Solution architecture,</a:t>
            </a:r>
            <a:br>
              <a:rPr lang="en-US" sz="21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data mapping,</a:t>
            </a:r>
            <a:br>
              <a:rPr lang="en-US" sz="21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prototype 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9867900" y="6601451"/>
            <a:ext cx="2806591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Development,</a:t>
            </a:r>
            <a:b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integration,</a:t>
            </a:r>
            <a:b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unit testing 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13992225" y="6744326"/>
            <a:ext cx="280659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UAT, go-live,</a:t>
            </a:r>
            <a:b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19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100"/>
              <a:buFont typeface="Montserrat"/>
              <a:buNone/>
            </a:pPr>
            <a:r>
              <a:rPr lang="en-US" sz="2100" u="none" strike="noStrike" cap="none" dirty="0" err="1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hypercare</a:t>
            </a:r>
            <a:r>
              <a:rPr lang="en-US" sz="21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 support 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676900" y="4801339"/>
            <a:ext cx="280659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DESIGN</a:t>
            </a:r>
            <a:b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WKS 3-5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9867900" y="4801339"/>
            <a:ext cx="280659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BUILD</a:t>
            </a:r>
            <a:b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WKS 6-12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14011275" y="4801339"/>
            <a:ext cx="280659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LAUNCH</a:t>
            </a:r>
            <a:b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WKS 13-14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1578025" y="4256641"/>
            <a:ext cx="2781300" cy="2781300"/>
          </a:xfrm>
          <a:prstGeom prst="ellipse">
            <a:avLst/>
          </a:prstGeom>
          <a:solidFill>
            <a:srgbClr val="C97B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5456820" y="4256641"/>
            <a:ext cx="2781300" cy="2781300"/>
          </a:xfrm>
          <a:prstGeom prst="ellipse">
            <a:avLst/>
          </a:prstGeom>
          <a:solidFill>
            <a:srgbClr val="C97B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9361066" y="4256641"/>
            <a:ext cx="2781300" cy="2781300"/>
          </a:xfrm>
          <a:prstGeom prst="ellipse">
            <a:avLst/>
          </a:prstGeom>
          <a:solidFill>
            <a:srgbClr val="C97B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13265311" y="4256641"/>
            <a:ext cx="2781300" cy="2781300"/>
          </a:xfrm>
          <a:prstGeom prst="ellipse">
            <a:avLst/>
          </a:prstGeom>
          <a:solidFill>
            <a:srgbClr val="C97B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1552575" y="2329400"/>
            <a:ext cx="103098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Your Syncoria Team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1552575" y="2026209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1552575" y="7715876"/>
            <a:ext cx="35272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First Last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5456820" y="7715876"/>
            <a:ext cx="35272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First Last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9361066" y="7715876"/>
            <a:ext cx="35272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First Last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3265311" y="7715876"/>
            <a:ext cx="35272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First Last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1552575" y="8125451"/>
            <a:ext cx="367014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ENGAGEMENT LEAD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456820" y="8125451"/>
            <a:ext cx="367014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ENGAGEMENT LEAD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9361066" y="8125451"/>
            <a:ext cx="367014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ENGAGEMENT LEAD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13265311" y="8125451"/>
            <a:ext cx="367014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ENGAGEMENT LEAD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1552575" y="8639175"/>
            <a:ext cx="36701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BRIEF ROLE DESCRIPTION AND EXPERIENCE FOR THIS ENGAGEMENT.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456820" y="8639175"/>
            <a:ext cx="36701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BRIEF ROLE DESCRIPTION AND EXPERIENCE FOR THIS ENGAGEMENT.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9361066" y="8639175"/>
            <a:ext cx="36701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BRIEF ROLE DESCRIPTION AND EXPERIENCE FOR THIS ENGAGEMENT.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3265311" y="8639175"/>
            <a:ext cx="36701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1E334C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1E334C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BRIEF ROLE DESCRIPTION AND EXPERIENCE FOR THIS ENGAGEMENT.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9091" y="1209675"/>
            <a:ext cx="13087350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/>
          <p:nvPr/>
        </p:nvSpPr>
        <p:spPr>
          <a:xfrm>
            <a:off x="6196013" y="4148077"/>
            <a:ext cx="4343400" cy="4695825"/>
          </a:xfrm>
          <a:prstGeom prst="roundRect">
            <a:avLst>
              <a:gd name="adj" fmla="val 4276"/>
            </a:avLst>
          </a:prstGeom>
          <a:noFill/>
          <a:ln w="9525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1557338" y="4148077"/>
            <a:ext cx="4343400" cy="4695825"/>
          </a:xfrm>
          <a:prstGeom prst="roundRect">
            <a:avLst>
              <a:gd name="adj" fmla="val 4276"/>
            </a:avLst>
          </a:prstGeom>
          <a:noFill/>
          <a:ln w="9525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10834688" y="4148077"/>
            <a:ext cx="4343400" cy="4695825"/>
          </a:xfrm>
          <a:prstGeom prst="roundRect">
            <a:avLst>
              <a:gd name="adj" fmla="val 4276"/>
            </a:avLst>
          </a:prstGeom>
          <a:noFill/>
          <a:ln w="9525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02866" y="7792885"/>
            <a:ext cx="2352675" cy="1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64191" y="7792885"/>
            <a:ext cx="2362200" cy="14028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/>
          <p:nvPr/>
        </p:nvSpPr>
        <p:spPr>
          <a:xfrm>
            <a:off x="154781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1552575" y="2329401"/>
            <a:ext cx="156240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How we move forward together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6564630" y="7202974"/>
            <a:ext cx="1323975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1925955" y="7202974"/>
            <a:ext cx="1323975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11203305" y="7202974"/>
            <a:ext cx="1323975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7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8400"/>
              <a:buFont typeface="Montserrat Light"/>
              <a:buNone/>
            </a:pPr>
            <a:r>
              <a:rPr lang="en-US" sz="840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 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6564624" y="4870976"/>
            <a:ext cx="4151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Schedule a follow-up call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925955" y="4870963"/>
            <a:ext cx="370403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Review this proposal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1203305" y="4870963"/>
            <a:ext cx="370403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Sign and kick off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6564630" y="5347213"/>
            <a:ext cx="304823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9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50"/>
              <a:buFont typeface="Montserrat Light"/>
              <a:buNone/>
            </a:pPr>
            <a:r>
              <a:rPr lang="en-US" sz="135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We'll answer questions and refine scope together.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925955" y="5347213"/>
            <a:ext cx="304823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9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50"/>
              <a:buFont typeface="Montserrat Light"/>
              <a:buNone/>
            </a:pPr>
            <a:r>
              <a:rPr lang="en-US" sz="135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Share internally with your team and stakeholders.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11203305" y="5347213"/>
            <a:ext cx="304823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9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50"/>
              <a:buFont typeface="Montserrat Light"/>
              <a:buNone/>
            </a:pPr>
            <a:r>
              <a:rPr lang="en-US" sz="1350" b="0" i="0" u="none" strike="noStrike" cap="none">
                <a:solidFill>
                  <a:srgbClr val="F9FAF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Begin discovery within 5 business days of agreement.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552575" y="2026209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9FAFB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NEXT STEPS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88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3050" y="4105275"/>
            <a:ext cx="15144750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/>
          <p:nvPr/>
        </p:nvSpPr>
        <p:spPr>
          <a:xfrm>
            <a:off x="1552628" y="2569125"/>
            <a:ext cx="1056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Solution Comparison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1552632" y="2026200"/>
            <a:ext cx="36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/>
          <p:nvPr/>
        </p:nvSpPr>
        <p:spPr>
          <a:xfrm>
            <a:off x="1552625" y="2569121"/>
            <a:ext cx="127032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Feature &amp; Module Overview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552632" y="2026201"/>
            <a:ext cx="3765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2575" y="98700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9091" y="1209675"/>
            <a:ext cx="13058775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5"/>
          <p:cNvSpPr/>
          <p:nvPr/>
        </p:nvSpPr>
        <p:spPr>
          <a:xfrm>
            <a:off x="1552628" y="2569126"/>
            <a:ext cx="141000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0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6300"/>
              <a:buFont typeface="Montserrat Light"/>
              <a:buNone/>
            </a:pPr>
            <a:r>
              <a:rPr lang="en-US" sz="6300" b="0" i="0" u="none" strike="noStrike" cap="none">
                <a:solidFill>
                  <a:srgbClr val="00305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Project Deliverables &amp; Status 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1552631" y="2026199"/>
            <a:ext cx="352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SLIDE LABEL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5287625" y="111442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003056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003056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1219200"/>
            <a:ext cx="37147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/>
          <p:nvPr/>
        </p:nvSpPr>
        <p:spPr>
          <a:xfrm>
            <a:off x="1600200" y="2200826"/>
            <a:ext cx="91314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Quality | Reliability | Communication | Value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1641625" y="5143500"/>
            <a:ext cx="48036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u="none" strike="noStrike" cap="none" dirty="0" err="1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syncoria.com</a:t>
            </a:r>
            <a:br>
              <a:rPr lang="en-US" sz="24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+1 (416) 687-6372</a:t>
            </a:r>
            <a:br>
              <a:rPr lang="en-US" sz="24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7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u="none" strike="noStrike" cap="none" dirty="0" err="1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hello@syncoria.com</a:t>
            </a:r>
            <a:r>
              <a:rPr lang="en-US" sz="24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1600200" y="8820150"/>
            <a:ext cx="4238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75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u="none" strike="noStrike" cap="none" dirty="0">
                <a:solidFill>
                  <a:srgbClr val="FFFFFF"/>
                </a:solidFill>
                <a:latin typeface="Syncoria Font Family" panose="02000503000000000000" pitchFamily="2" charset="0"/>
                <a:ea typeface="Montserrat"/>
                <a:cs typeface="Montserrat"/>
                <a:sym typeface="Montserrat"/>
              </a:rPr>
              <a:t>© 2026 SYNCORIA INC. ALL RIGHTS RESERVED.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Macintosh PowerPoint</Application>
  <PresentationFormat>Custom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Montserrat ExtraLight</vt:lpstr>
      <vt:lpstr>Calibri</vt:lpstr>
      <vt:lpstr>Syncoria Font Family</vt:lpstr>
      <vt:lpstr>Arial</vt:lpstr>
      <vt:lpstr>Montserrat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Fida-E Zaheer</cp:lastModifiedBy>
  <cp:revision>1</cp:revision>
  <dcterms:modified xsi:type="dcterms:W3CDTF">2026-07-10T04:21:01Z</dcterms:modified>
</cp:coreProperties>
</file>